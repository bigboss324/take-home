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548640" cy="54864"/>
          </a:xfrm>
          <a:prstGeom prst="rect">
            <a:avLst/>
          </a:prstGeom>
          <a:solidFill>
            <a:srgbClr val="E8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8BB8E8"/>
                </a:solidFill>
                <a:latin typeface="Calibri"/>
              </a:defRPr>
            </a:pPr>
            <a:r>
              <a:t>DEFENSA TÉCNICA</a:t>
            </a:r>
          </a:p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ETL Pipeline</a:t>
            </a:r>
          </a:p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Asíncrono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A0C4E8"/>
                </a:solidFill>
                <a:latin typeface="Calibri"/>
              </a:defRPr>
            </a:pPr>
            <a:r>
              <a:t>Clasificación de RUTs para segmentación</a:t>
            </a:r>
          </a:p>
          <a:p>
            <a:pPr algn="l">
              <a:defRPr sz="1600" b="0">
                <a:solidFill>
                  <a:srgbClr val="A0C4E8"/>
                </a:solidFill>
                <a:latin typeface="Calibri"/>
              </a:defRPr>
            </a:pPr>
            <a:r>
              <a:t>comercial: Contador, PYME u Otro.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Alexis Taha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0C4E8"/>
                </a:solidFill>
                <a:latin typeface="Calibri"/>
              </a:defRPr>
            </a:pPr>
            <a:r>
              <a:t>Data Engineer Semi-Senior</a:t>
            </a:r>
          </a:p>
          <a:p>
            <a:pPr algn="l">
              <a:defRPr sz="1200" b="0">
                <a:solidFill>
                  <a:srgbClr val="8BB8E8"/>
                </a:solidFill>
                <a:latin typeface="Calibri"/>
              </a:defRPr>
            </a:pPr>
            <a:r>
              <a:t>Septiembre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371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600" b="1">
                <a:solidFill>
                  <a:srgbClr val="1B3A5C"/>
                </a:solidFill>
                <a:latin typeface="Calibri"/>
              </a:defRPr>
            </a:pPr>
            <a:r>
              <a:t>nubox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2560320"/>
            <a:ext cx="5303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0" y="2560320"/>
            <a:ext cx="54864" cy="82296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2651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🐍 Python 3.13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971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asyncio + Playwright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3566160"/>
            <a:ext cx="5303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0720" y="3566160"/>
            <a:ext cx="54864" cy="82296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3657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⚡ 60%+ más rápido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977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Concurrencia controlada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4572000"/>
            <a:ext cx="5303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0" y="4572000"/>
            <a:ext cx="54864" cy="82296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0" y="4663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🛡️ 41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983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100% lógica cubierta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5577840"/>
            <a:ext cx="5303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60720" y="5577840"/>
            <a:ext cx="54864" cy="82296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0" y="5669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📊 Tolerancia a fallos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989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Dead Letter Queue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12D"/>
                </a:solidFill>
                <a:latin typeface="Calibri"/>
              </a:defRPr>
            </a:pPr>
            <a:r>
              <a:t>LÁMINA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Calibri"/>
              </a:defRPr>
            </a:pPr>
            <a:r>
              <a:t>El Problema de Negocio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E8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B3A5C"/>
                </a:solidFill>
                <a:latin typeface="Calibri"/>
              </a:defRPr>
            </a:pPr>
            <a:r>
              <a:t>Tenemos miles de RUTs</a:t>
            </a:r>
          </a:p>
          <a:p>
            <a:pPr algn="l">
              <a:spcAft>
                <a:spcPts val="1600"/>
              </a:spcAft>
              <a:defRPr sz="2600" b="1">
                <a:solidFill>
                  <a:srgbClr val="1B3A5C"/>
                </a:solidFill>
                <a:latin typeface="Calibri"/>
              </a:defRPr>
            </a:pPr>
            <a:r>
              <a:t>en la base.</a:t>
            </a:r>
          </a:p>
          <a:p>
            <a:pPr algn="l">
              <a:spcAft>
                <a:spcPts val="200"/>
              </a:spcAft>
              <a:defRPr sz="2000" b="0">
                <a:solidFill>
                  <a:srgbClr val="4A5568"/>
                </a:solidFill>
                <a:latin typeface="Calibri"/>
              </a:defRPr>
            </a:pPr>
            <a:r>
              <a:t>No sabemos quién es</a:t>
            </a:r>
          </a:p>
          <a:p>
            <a:pPr algn="l">
              <a:spcAft>
                <a:spcPts val="2400"/>
              </a:spcAft>
              <a:defRPr sz="2000" b="0">
                <a:solidFill>
                  <a:srgbClr val="4A5568"/>
                </a:solidFill>
                <a:latin typeface="Calibri"/>
              </a:defRPr>
            </a:pPr>
            <a:r>
              <a:t>Contador y quién es PYME.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4A5568"/>
                </a:solidFill>
                <a:latin typeface="Calibri"/>
              </a:defRPr>
            </a:pPr>
            <a:r>
              <a:t>Sin esa tipología, la segmentación comercial</a:t>
            </a:r>
          </a:p>
          <a:p>
            <a:pPr algn="l">
              <a:spcAft>
                <a:spcPts val="2400"/>
              </a:spcAft>
              <a:defRPr sz="1300" b="0">
                <a:solidFill>
                  <a:srgbClr val="4A5568"/>
                </a:solidFill>
                <a:latin typeface="Calibri"/>
              </a:defRPr>
            </a:pPr>
            <a:r>
              <a:t>y el onboarding se hacen a mano.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E8612D"/>
                </a:solidFill>
                <a:latin typeface="Calibri"/>
              </a:defRPr>
            </a:pPr>
            <a:r>
              <a:t>⚠️  El SII no tiene API pública. La única fuente es</a:t>
            </a:r>
          </a:p>
          <a:p>
            <a:pPr algn="l">
              <a:defRPr sz="1200" b="0">
                <a:solidFill>
                  <a:srgbClr val="E8612D"/>
                </a:solidFill>
                <a:latin typeface="Calibri"/>
              </a:defRPr>
            </a:pPr>
            <a:r>
              <a:t>un portal web SPA protegido por WAF y CAPTCHA.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4864" cy="10972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2B6CB0"/>
                </a:solidFill>
                <a:latin typeface="Calibri"/>
              </a:defRPr>
            </a:pPr>
            <a:r>
              <a:t>contador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  <a:latin typeface="Calibri"/>
              </a:defRPr>
            </a:pPr>
            <a:r>
              <a:t>Onboarding de estudios contables y producto</a:t>
            </a:r>
          </a:p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orientado a intermediarios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926080"/>
            <a:ext cx="5029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2926080"/>
            <a:ext cx="54864" cy="1097280"/>
          </a:xfrm>
          <a:prstGeom prst="rect">
            <a:avLst/>
          </a:prstGeom>
          <a:solidFill>
            <a:srgbClr val="E8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3063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8612D"/>
                </a:solidFill>
                <a:latin typeface="Calibri"/>
              </a:defRPr>
            </a:pPr>
            <a:r>
              <a:t>pyme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  <a:latin typeface="Calibri"/>
              </a:defRPr>
            </a:pPr>
            <a:r>
              <a:t>Segmentación de empresas usuarias finales y</a:t>
            </a:r>
          </a:p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priorización de leads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206240"/>
            <a:ext cx="5029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4206240"/>
            <a:ext cx="54864" cy="109728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4343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A202C"/>
                </a:solidFill>
                <a:latin typeface="Calibri"/>
              </a:defRPr>
            </a:pPr>
            <a:r>
              <a:t>otro / sin_clasificar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  <a:latin typeface="Calibri"/>
              </a:defRPr>
            </a:pPr>
            <a:r>
              <a:t>Fuera de foco o sin evidencia suficiente</a:t>
            </a:r>
          </a:p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para decidir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669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B6CB0"/>
                </a:solidFill>
                <a:latin typeface="Calibri"/>
              </a:defRPr>
            </a:pPr>
            <a:r>
              <a:t>Fuente de verdad para este ejercicio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Consulta pública de actividades económicas del SII,</a:t>
            </a:r>
          </a:p>
          <a:p>
            <a:pPr algn="l">
              <a:defRPr sz="1100" b="0">
                <a:solidFill>
                  <a:srgbClr val="4A5568"/>
                </a:solidFill>
                <a:latin typeface="Calibri"/>
              </a:defRPr>
            </a:pPr>
            <a:r>
              <a:t>cruzada con el mapa de rubros de Nubox.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12D"/>
                </a:solidFill>
                <a:latin typeface="Calibri"/>
              </a:defRPr>
            </a:pPr>
            <a:r>
              <a:t>LÁMINA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Calibri"/>
              </a:defRPr>
            </a:pPr>
            <a:r>
              <a:t>Arquitectura del Pipeline ETL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E8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828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202C"/>
                </a:solidFill>
                <a:latin typeface="Calibri"/>
              </a:defRPr>
            </a:pPr>
            <a:r>
              <a:t>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Calibri"/>
              </a:defRPr>
            </a:pPr>
            <a:r>
              <a:t>Lectura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5568"/>
                </a:solidFill>
                <a:latin typeface="Calibri"/>
              </a:defRPr>
            </a:pPr>
            <a:r>
              <a:t>ruts_entrada.csv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B6CB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828800"/>
            <a:ext cx="1828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03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202C"/>
                </a:solidFill>
                <a:latin typeface="Calibri"/>
              </a:defRPr>
            </a:pPr>
            <a:r>
              <a:t>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Calibri"/>
              </a:defRPr>
            </a:pPr>
            <a:r>
              <a:t>Módulo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5568"/>
                </a:solidFill>
                <a:latin typeface="Calibri"/>
              </a:defRPr>
            </a:pPr>
            <a:r>
              <a:t>validator.py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B6CB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828800"/>
            <a:ext cx="1828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202C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Calibri"/>
              </a:defRPr>
            </a:pPr>
            <a:r>
              <a:t>Scraping SII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5568"/>
                </a:solidFill>
                <a:latin typeface="Calibri"/>
              </a:defRPr>
            </a:pPr>
            <a:r>
              <a:t>scraper.py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B6CB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1828800"/>
            <a:ext cx="1828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7804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202C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Calibri"/>
              </a:defRPr>
            </a:pPr>
            <a:r>
              <a:t>Clasificación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5568"/>
                </a:solidFill>
                <a:latin typeface="Calibri"/>
              </a:defRPr>
            </a:pPr>
            <a:r>
              <a:t>classifier.py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B6CB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1828800"/>
            <a:ext cx="1828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202C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Calibri"/>
              </a:defRPr>
            </a:pPr>
            <a:r>
              <a:t>Persistencia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5568"/>
                </a:solidFill>
                <a:latin typeface="Calibri"/>
              </a:defRPr>
            </a:pPr>
            <a:r>
              <a:t>resultados.csv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291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↳  Si algún paso falla  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0" y="3657600"/>
            <a:ext cx="457200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31920" y="37490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53E3E"/>
                </a:solidFill>
                <a:latin typeface="Calibri"/>
              </a:defRPr>
            </a:pPr>
            <a:r>
              <a:t>🚨  Cuarentena (cuarentena.csv + motivo del fallo)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114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El batch NUNCA se detiene. Los fallos se aíslan.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846320"/>
            <a:ext cx="50292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" y="49834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B3A5C"/>
                </a:solidFill>
                <a:latin typeface="Calibri"/>
              </a:defRPr>
            </a:pPr>
            <a:r>
              <a:t>🐍  Stack Tecnológico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  <a:latin typeface="Calibri"/>
              </a:defRPr>
            </a:pPr>
            <a:r>
              <a:t>Python 3.13 · Pandas · asyncio · Playwright (headless)</a:t>
            </a:r>
          </a:p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playwright-stealth · tenacity · tqdm · pytest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846320"/>
            <a:ext cx="5212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49834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B3A5C"/>
                </a:solidFill>
                <a:latin typeface="Calibri"/>
              </a:defRPr>
            </a:pPr>
            <a:r>
              <a:t>🏗️  Principios de Diseño (SOLID)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  <a:latin typeface="Calibri"/>
              </a:defRPr>
            </a:pPr>
            <a:r>
              <a:t>Cada módulo tiene responsabilidad única. Se puede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  <a:latin typeface="Calibri"/>
              </a:defRPr>
            </a:pPr>
            <a:r>
              <a:t>cambiar el scraper sin tocar el clasificador. Escalable</a:t>
            </a:r>
          </a:p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a producción en la nube sin reescribir lógica.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12D"/>
                </a:solidFill>
                <a:latin typeface="Calibri"/>
              </a:defRPr>
            </a:pPr>
            <a:r>
              <a:t>LÁMINA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Calibri"/>
              </a:defRPr>
            </a:pPr>
            <a:r>
              <a:t>Resiliencia y Manejo de Errores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E8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457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B6CB0"/>
                </a:solidFill>
                <a:latin typeface="Calibri"/>
              </a:defRPr>
            </a:pPr>
            <a:r>
              <a:t>Error Tipo 1</a:t>
            </a:r>
          </a:p>
          <a:p>
            <a:pPr algn="l">
              <a:spcAft>
                <a:spcPts val="10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RUT Inválido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4A5568"/>
                </a:solidFill>
                <a:latin typeface="Calibri"/>
              </a:defRPr>
            </a:pPr>
            <a:r>
              <a:t>El Módulo 11 detecta que el dígito verificador no cuadra. El RUT jamás llega a consultar el SII, ahorrando tiempo y ancho de banda.</a:t>
            </a:r>
          </a:p>
          <a:p>
            <a:pPr algn="l">
              <a:defRPr sz="1100" b="0">
                <a:solidFill>
                  <a:srgbClr val="2B6CB0"/>
                </a:solidFill>
                <a:latin typeface="Calibri"/>
              </a:defRPr>
            </a:pPr>
            <a:r>
              <a:t>🔖  Fail-Fast · Sin gasto de 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45720"/>
          </a:xfrm>
          <a:prstGeom prst="rect">
            <a:avLst/>
          </a:prstGeom>
          <a:solidFill>
            <a:srgbClr val="E8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E8612D"/>
                </a:solidFill>
                <a:latin typeface="Calibri"/>
              </a:defRPr>
            </a:pPr>
            <a:r>
              <a:t>Error Tipo 2</a:t>
            </a:r>
          </a:p>
          <a:p>
            <a:pPr algn="l">
              <a:spcAft>
                <a:spcPts val="10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Timeout / CAPTCHA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4A5568"/>
                </a:solidFill>
                <a:latin typeface="Calibri"/>
              </a:defRPr>
            </a:pPr>
            <a:r>
              <a:t>Si el portal del SII no responde en 40 segundos (bloqueo WAF, CAPTCHA o sobrecarga), el registro se aísla con su traza de error exacta en cuarentena.</a:t>
            </a:r>
          </a:p>
          <a:p>
            <a:pPr algn="l">
              <a:defRPr sz="1100" b="0">
                <a:solidFill>
                  <a:srgbClr val="E8612D"/>
                </a:solidFill>
                <a:latin typeface="Calibri"/>
              </a:defRPr>
            </a:pPr>
            <a:r>
              <a:t>🔖  Dead Letter 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383280" cy="4572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4A5568"/>
                </a:solidFill>
                <a:latin typeface="Calibri"/>
              </a:defRPr>
            </a:pPr>
            <a:r>
              <a:t>Error Tipo 3</a:t>
            </a:r>
          </a:p>
          <a:p>
            <a:pPr algn="l">
              <a:spcAft>
                <a:spcPts val="10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Sin Match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4A5568"/>
                </a:solidFill>
                <a:latin typeface="Calibri"/>
              </a:defRPr>
            </a:pPr>
            <a:r>
              <a:t>El RUT tiene actividades en el SII, pero ninguna coincide con los 26 rubros del mapa maestro de Nubox. Se clasifica como 'otro / sin_clasificar'.</a:t>
            </a:r>
          </a:p>
          <a:p>
            <a:pPr algn="l">
              <a:defRPr sz="1100" b="0">
                <a:solidFill>
                  <a:srgbClr val="4A5568"/>
                </a:solidFill>
                <a:latin typeface="Calibri"/>
              </a:defRPr>
            </a:pPr>
            <a:r>
              <a:t>🔖  Clasificación por descarte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698480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⚡ Principio clave: Un fallo individual NUNCA tumba el batch completo.</a:t>
            </a:r>
          </a:p>
          <a:p>
            <a:pPr algn="l">
              <a:defRPr sz="1200" b="0">
                <a:solidFill>
                  <a:srgbClr val="A0C4E8"/>
                </a:solidFill>
                <a:latin typeface="Calibri"/>
              </a:defRPr>
            </a:pPr>
            <a:r>
              <a:t>El pipeline continúa procesando los registros restantes. Cualquier error se registra con su motivo exacto en cuarentena.csv.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77840"/>
            <a:ext cx="10698480" cy="1005840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669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8D391"/>
                </a:solidFill>
                <a:latin typeface="Calibri"/>
              </a:defRPr>
            </a:pPr>
            <a:r>
              <a:t># Patrón Cuarentena en main.py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try: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    giros = await obtener_giros_sii(rut)  # Scraping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except Exception as e:</a:t>
            </a:r>
          </a:p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    guardar_cuarentena(rut, motivo=e)      # Aislamiento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12D"/>
                </a:solidFill>
                <a:latin typeface="Calibri"/>
              </a:defRPr>
            </a:pPr>
            <a:r>
              <a:t>LÁMINA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Calibri"/>
              </a:defRPr>
            </a:pPr>
            <a:r>
              <a:t>Regla de Negocio: Multi-giro y Prioridad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E8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La tipología sale del mapa,</a:t>
            </a:r>
          </a:p>
          <a:p>
            <a:pPr algn="l">
              <a:spcAft>
                <a:spcPts val="1600"/>
              </a:spcAft>
              <a:defRPr sz="2200" b="1">
                <a:solidFill>
                  <a:srgbClr val="E8612D"/>
                </a:solidFill>
                <a:latin typeface="Calibri"/>
              </a:defRPr>
            </a:pPr>
            <a:r>
              <a:t>no de tu intuición.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4A5568"/>
                </a:solidFill>
                <a:latin typeface="Calibri"/>
              </a:defRPr>
            </a:pPr>
            <a:r>
              <a:t>Una empresa puede tener múltiples giros en el SII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4A5568"/>
                </a:solidFill>
                <a:latin typeface="Calibri"/>
              </a:defRPr>
            </a:pPr>
            <a:r>
              <a:t>(ej. asesoría contable Y venta de software).</a:t>
            </a:r>
          </a:p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¿Cómo decidimos? → Columna de Prioridad.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20040" cy="3200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02C"/>
                </a:solidFill>
                <a:latin typeface="Calibri"/>
              </a:defRPr>
            </a:pPr>
            <a:r>
              <a:t>Extraes los giros vigentes del SII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320040" cy="3200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02C"/>
                </a:solidFill>
                <a:latin typeface="Calibri"/>
              </a:defRPr>
            </a:pPr>
            <a:r>
              <a:t>Cruzas con el mapa (mapa_rubros.csv)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320040" cy="3200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02C"/>
                </a:solidFill>
                <a:latin typeface="Calibri"/>
              </a:defRPr>
            </a:pPr>
            <a:r>
              <a:t>Si hay múltiples matches → menor prioridad gana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92040"/>
            <a:ext cx="320040" cy="3200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02C"/>
                </a:solidFill>
                <a:latin typeface="Calibri"/>
              </a:defRPr>
            </a:pPr>
            <a:r>
              <a:t>Contador = Prioridad 1 (siempre gana)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320040" cy="3200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02C"/>
                </a:solidFill>
                <a:latin typeface="Calibri"/>
              </a:defRPr>
            </a:pPr>
            <a:r>
              <a:t>PYME = Prioridad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15000"/>
            <a:ext cx="320040" cy="3200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715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02C"/>
                </a:solidFill>
                <a:latin typeface="Calibri"/>
              </a:defRPr>
            </a:pPr>
            <a:r>
              <a:t>Sin coincidencia = 'otro / sin_clasificar'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217920" y="1645920"/>
          <a:ext cx="5212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Familia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Multi-giro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Código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2.037.289-3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B6CB0"/>
                          </a:solidFill>
                          <a:latin typeface="Calibri"/>
                        </a:defRPr>
                      </a:pPr>
                      <a:r>
                        <a:t>Contador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692000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4.346.663-1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B6CB0"/>
                          </a:solidFill>
                          <a:latin typeface="Calibri"/>
                        </a:defRPr>
                      </a:pPr>
                      <a:r>
                        <a:t>Contador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Sí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692000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4.108.520-7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612D"/>
                          </a:solidFill>
                          <a:latin typeface="Calibri"/>
                        </a:defRPr>
                      </a:pPr>
                      <a:r>
                        <a:t>PYME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11306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5.084.436-6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612D"/>
                          </a:solidFill>
                          <a:latin typeface="Calibri"/>
                        </a:defRPr>
                      </a:pPr>
                      <a:r>
                        <a:t>PYME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Sí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472101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7.683.970-0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612D"/>
                          </a:solidFill>
                          <a:latin typeface="Calibri"/>
                        </a:defRPr>
                      </a:pPr>
                      <a:r>
                        <a:t>PYME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620200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3.418.354-6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Otro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217920" y="5303520"/>
            <a:ext cx="5212080" cy="91440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ED8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53949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B3A5C"/>
                </a:solidFill>
                <a:latin typeface="Calibri"/>
              </a:defRPr>
            </a:pPr>
            <a:r>
              <a:t>⚠️  Trazabilidad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Cada registro incluye el codigo_ganador y la regla</a:t>
            </a:r>
          </a:p>
          <a:p>
            <a:pPr algn="l">
              <a:defRPr sz="1100" b="0">
                <a:solidFill>
                  <a:srgbClr val="4A5568"/>
                </a:solidFill>
                <a:latin typeface="Calibri"/>
              </a:defRPr>
            </a:pPr>
            <a:r>
              <a:t>aplicada, permitiendo auditar por qué se clasificó así.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12D"/>
                </a:solidFill>
                <a:latin typeface="Calibri"/>
              </a:defRPr>
            </a:pPr>
            <a:r>
              <a:t>LÁMINA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Calibri"/>
              </a:defRPr>
            </a:pPr>
            <a:r>
              <a:t>Optimizaciones: Async, Stealth y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E8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457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⚡ Concurrencia Asíncrona</a:t>
            </a:r>
          </a:p>
          <a:p>
            <a:pPr algn="l">
              <a:spcAft>
                <a:spcPts val="1200"/>
              </a:spcAft>
              <a:defRPr sz="1200" b="1">
                <a:solidFill>
                  <a:srgbClr val="2B6CB0"/>
                </a:solidFill>
                <a:latin typeface="Calibri"/>
              </a:defRPr>
            </a:pPr>
            <a:r>
              <a:t>asyncio + Semáforo</a:t>
            </a:r>
          </a:p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En vez de procesar 1 RUT a la vez (54s), lanzamos 3 navegadores en paralelo controlados por un Semáforo.</a:t>
            </a:r>
            <a:br/>
            <a:br/>
            <a:r>
              <a:t>Resultado: 60%+ más rápido (~20s para 12 registros). Configurable vía MAX_CONCURRENCY.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45720"/>
          </a:xfrm>
          <a:prstGeom prst="rect">
            <a:avLst/>
          </a:prstGeom>
          <a:solidFill>
            <a:srgbClr val="E8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87452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🛡️ Evasión WAF / Stealth</a:t>
            </a:r>
          </a:p>
          <a:p>
            <a:pPr algn="l">
              <a:spcAft>
                <a:spcPts val="1200"/>
              </a:spcAft>
              <a:defRPr sz="1200" b="1">
                <a:solidFill>
                  <a:srgbClr val="E8612D"/>
                </a:solidFill>
                <a:latin typeface="Calibri"/>
              </a:defRPr>
            </a:pPr>
            <a:r>
              <a:t>playwright-stealth + Jitter</a:t>
            </a:r>
          </a:p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El SII detecta bots por la huella digital del navegador. Stealth oculta la bandera webdriver.</a:t>
            </a:r>
            <a:br/>
            <a:br/>
            <a:r>
              <a:t>Jitter: Esperas aleatorias (0-3.5s) antes de cada petición para simular comportamiento humano.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383280" cy="45720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87452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✅ 41 Tests Unitarios</a:t>
            </a:r>
          </a:p>
          <a:p>
            <a:pPr algn="l">
              <a:spcAft>
                <a:spcPts val="1200"/>
              </a:spcAft>
              <a:defRPr sz="1200" b="1">
                <a:solidFill>
                  <a:srgbClr val="38A169"/>
                </a:solidFill>
                <a:latin typeface="Calibri"/>
              </a:defRPr>
            </a:pPr>
            <a:r>
              <a:t>pytest · TDD · 100% cobertura lógica</a:t>
            </a:r>
          </a:p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Batería de pruebas que cubre:</a:t>
            </a:r>
            <a:br/>
            <a:r>
              <a:t>• Validación Módulo 11 (K, 0, inválidos)</a:t>
            </a:r>
            <a:br/>
            <a:r>
              <a:t>• Clasificación multi-giro y empates</a:t>
            </a:r>
            <a:br/>
            <a:r>
              <a:t>• Códigos no mapeados en diccionario</a:t>
            </a:r>
            <a:br/>
            <a:r>
              <a:t>• Formato y limpieza de RUTs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1069848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5486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C8481"/>
                </a:solidFill>
                <a:latin typeface="Calibri"/>
              </a:defRPr>
            </a:pPr>
            <a:r>
              <a:t>📊 Antes (Secuencial)</a:t>
            </a:r>
          </a:p>
          <a:p>
            <a:pPr algn="l">
              <a:defRPr sz="1300" b="0">
                <a:solidFill>
                  <a:srgbClr val="A0C4E8"/>
                </a:solidFill>
                <a:latin typeface="Calibri"/>
              </a:defRPr>
            </a:pPr>
            <a:r>
              <a:t>~54 segundos para 12 RUTs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4864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486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68D391"/>
                </a:solidFill>
                <a:latin typeface="Calibri"/>
              </a:defRPr>
            </a:pPr>
            <a:r>
              <a:t>🚀 Después (Async)</a:t>
            </a:r>
          </a:p>
          <a:p>
            <a:pPr algn="l">
              <a:defRPr sz="1300" b="0">
                <a:solidFill>
                  <a:srgbClr val="A0C4E8"/>
                </a:solidFill>
                <a:latin typeface="Calibri"/>
              </a:defRPr>
            </a:pPr>
            <a:r>
              <a:t>~20 segundos para 12 RUTs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5486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68D391"/>
                </a:solidFill>
                <a:latin typeface="Calibri"/>
              </a:defRPr>
            </a:pPr>
            <a:r>
              <a:t>60%+</a:t>
            </a:r>
          </a:p>
          <a:p>
            <a:pPr algn="ctr">
              <a:defRPr sz="1300" b="0">
                <a:solidFill>
                  <a:srgbClr val="A0C4E8"/>
                </a:solidFill>
                <a:latin typeface="Calibri"/>
              </a:defRPr>
            </a:pPr>
            <a:r>
              <a:t>más rápido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12D"/>
                </a:solidFill>
                <a:latin typeface="Calibri"/>
              </a:defRPr>
            </a:pPr>
            <a:r>
              <a:t>LÁMINA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Calibri"/>
              </a:defRPr>
            </a:pPr>
            <a:r>
              <a:t>Demo en Vivo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E8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Ejecutaremos el pipeline completo en tiempo real. Casos a demostrar: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4864" cy="10058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2377440"/>
            <a:ext cx="411480" cy="4114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94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Caso Exitoso: Contador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Un RUT que contiene un giro contable (código 692000). El pipeline lo extrae del SII, cruza con el mapa de rubros y lo clasifica correctamente como 'contador'.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246120"/>
            <a:ext cx="54864" cy="1005840"/>
          </a:xfrm>
          <a:prstGeom prst="rect">
            <a:avLst/>
          </a:prstGeom>
          <a:solidFill>
            <a:srgbClr val="E8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5840" y="3520440"/>
            <a:ext cx="411480" cy="411480"/>
          </a:xfrm>
          <a:prstGeom prst="ellipse">
            <a:avLst/>
          </a:prstGeom>
          <a:solidFill>
            <a:srgbClr val="E8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37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Caso Exitoso: PYME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703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Un RUT con actividades comerciales. Se clasifica como 'pyme' y se documenta la trazabilidad del código ganador y la regla de prioridad aplicada.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389120"/>
            <a:ext cx="54864" cy="100584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5840" y="4663440"/>
            <a:ext cx="411480" cy="411480"/>
          </a:xfrm>
          <a:prstGeom prst="ellipse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480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Caso Cuarentena: RUT Inválido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Un RUT con dígito verificador incorrecto. El Módulo 11 lo detecta inmediatamente y lo envía a cuarentena.csv sin gastar tiempo consultando el SII (Fail-Fast).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321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E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5532120"/>
            <a:ext cx="54864" cy="1005840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05840" y="5806440"/>
            <a:ext cx="411480" cy="41148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623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Caso Multi-giro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989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Un RUT con múltiples actividades económicas. Se resuelve automáticamente usando la columna de prioridad del mapa. Se demuestra la trazabilidad completa.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943600"/>
            <a:ext cx="10698480" cy="640080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8D391"/>
                </a:solidFill>
                <a:latin typeface="Calibri"/>
              </a:defRPr>
            </a:pPr>
            <a:r>
              <a:t>$env:MAX_CONCURRENCY="3"; $env:SII_HEADLESS="true"; python main.py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12D"/>
                </a:solidFill>
                <a:latin typeface="Calibri"/>
              </a:defRPr>
            </a:pPr>
            <a:r>
              <a:t>LAMINA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Calibri"/>
              </a:defRPr>
            </a:pPr>
            <a:r>
              <a:t>Diagrama en la Nube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E8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AWS Medallion Architecture: Como llevariamos este proceso a produccion</a:t>
            </a:r>
          </a:p>
        </p:txBody>
      </p:sp>
      <p:pic>
        <p:nvPicPr>
          <p:cNvPr id="6" name="Picture 5" descr="diagrama_cloud_aw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52" y="1691640"/>
            <a:ext cx="11231728" cy="49602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12D"/>
                </a:solidFill>
                <a:latin typeface="Calibri"/>
              </a:defRPr>
            </a:pPr>
            <a:r>
              <a:t>LAMINA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Calibri"/>
              </a:defRPr>
            </a:pPr>
            <a:r>
              <a:t>Resumen y Cierre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E8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t>Gracias! Preguntas?  |  Alexis Taha  |  Data Engineer Semi-Senior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Entregables solicitados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1920000"/>
            <a:ext cx="5000000" cy="500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1920000"/>
            <a:ext cx="45720" cy="500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1520" y="2020000"/>
            <a:ext cx="280000" cy="2800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1520" y="1965000"/>
            <a:ext cx="4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Presentación 8-10 láminas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1520" y="2180000"/>
            <a:ext cx="4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A95A5"/>
                </a:solidFill>
                <a:latin typeface="Calibri"/>
              </a:rPr>
              <a:t>Problema, flujo, módulos, regla, modelo de datos, desafíos, cloud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2480000"/>
            <a:ext cx="5000000" cy="500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2480000"/>
            <a:ext cx="45720" cy="500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520" y="2580000"/>
            <a:ext cx="280000" cy="2800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1520" y="2525000"/>
            <a:ext cx="4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Diagrama de flujo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1520" y="2740000"/>
            <a:ext cx="4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A95A5"/>
                </a:solidFill>
                <a:latin typeface="Calibri"/>
              </a:rPr>
              <a:t>Lectura → validación → consulta SII → clasificación → persistencia → cuarentena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040000"/>
            <a:ext cx="5000000" cy="500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040000"/>
            <a:ext cx="45720" cy="500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1520" y="3140000"/>
            <a:ext cx="280000" cy="2800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1520" y="3085000"/>
            <a:ext cx="4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Diccionario de datos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1520" y="3300000"/>
            <a:ext cx="4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A95A5"/>
                </a:solidFill>
                <a:latin typeface="Calibri"/>
              </a:rPr>
              <a:t>Grano, columnas, claves y reglas de calidad por cada archivo CSV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3600000"/>
            <a:ext cx="5000000" cy="500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520" y="3600000"/>
            <a:ext cx="45720" cy="500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51520" y="3700000"/>
            <a:ext cx="280000" cy="2800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1520" y="3645000"/>
            <a:ext cx="4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Demo en vivo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31520" y="3860000"/>
            <a:ext cx="4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A95A5"/>
                </a:solidFill>
                <a:latin typeface="Calibri"/>
              </a:rPr>
              <a:t>Caso Contador + PYME + Cuarentena + Multi-giro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4160000"/>
            <a:ext cx="5000000" cy="500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1520" y="4160000"/>
            <a:ext cx="45720" cy="500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51520" y="4260000"/>
            <a:ext cx="280000" cy="2800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31520" y="4205000"/>
            <a:ext cx="4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Diagrama en la nube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31520" y="4420000"/>
            <a:ext cx="4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A95A5"/>
                </a:solidFill>
                <a:latin typeface="Calibri"/>
              </a:rPr>
              <a:t>Step Functions + ECS Fargate + S3 + Athena + CloudWatch (AWS)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00000" y="1554480"/>
            <a:ext cx="5500000" cy="490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50000" y="173448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Visión a Futuro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50000" y="2134480"/>
            <a:ext cx="600000" cy="3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50000" y="227448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C00"/>
                </a:solidFill>
                <a:latin typeface="Calibri"/>
              </a:rPr>
              <a:t>🚀  Entorno Productivo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50000" y="2584480"/>
            <a:ext cx="4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0D8"/>
                </a:solidFill>
                <a:latin typeface="Calibri"/>
              </a:rPr>
              <a:t>Despliegue en AWS con Step Functions orquestando el pipeline completo. Contenedores ECS Fargate para ejecución serverless y escalable.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50000" y="322448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C00"/>
                </a:solidFill>
                <a:latin typeface="Calibri"/>
              </a:rPr>
              <a:t>📊  Monitoreo Continuo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50000" y="3534480"/>
            <a:ext cx="4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0D8"/>
                </a:solidFill>
                <a:latin typeface="Calibri"/>
              </a:rPr>
              <a:t>CloudWatch Alarms para tasas de error y latencia. Dashboard en tiempo real con métricas de scraping, clasificación y cuarentena.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50000" y="417448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C00"/>
                </a:solidFill>
                <a:latin typeface="Calibri"/>
              </a:rPr>
              <a:t>🔄  Evolución del Pipeline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50000" y="4484480"/>
            <a:ext cx="4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0D8"/>
                </a:solidFill>
                <a:latin typeface="Calibri"/>
              </a:rPr>
              <a:t>Integración con nuevas fuentes de datos del SII. Soporte multi-región y ampliación de rubros del mapa de clasificación.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50000" y="512448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C00"/>
                </a:solidFill>
                <a:latin typeface="Calibri"/>
              </a:rPr>
              <a:t>🛡️  Resiliencia y Calidad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50000" y="5434480"/>
            <a:ext cx="4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0D8"/>
                </a:solidFill>
                <a:latin typeface="Calibri"/>
              </a:rPr>
              <a:t>Alertas automáticas ante cambios en el DOM del SII. Pipeline de CI/CD con tests de regresión y validación de schema.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1184</Words>
  <Application>Microsoft Office PowerPoint</Application>
  <PresentationFormat>Panorámica</PresentationFormat>
  <Paragraphs>212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Alexis Andre Taha Molina (alexis.taham)</cp:lastModifiedBy>
  <cp:revision>2</cp:revision>
  <dcterms:created xsi:type="dcterms:W3CDTF">2013-01-27T09:14:16Z</dcterms:created>
  <dcterms:modified xsi:type="dcterms:W3CDTF">2026-09-08T19:27:09Z</dcterms:modified>
  <cp:category/>
</cp:coreProperties>
</file>