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2560320"/>
            <a:ext cx="548640" cy="54864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8BB8E8"/>
                </a:solidFill>
                <a:latin typeface="Calibri"/>
              </a:defRPr>
            </a:pPr>
            <a:r>
              <a:t>DEFENSA TÉCNICA</a:t>
            </a:r>
          </a:p>
          <a:p>
            <a:pPr algn="l"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ETL Pipeline</a:t>
            </a:r>
          </a:p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Asíncrono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0C4E8"/>
                </a:solidFill>
                <a:latin typeface="Calibri"/>
              </a:defRPr>
            </a:pPr>
            <a:r>
              <a:t>Clasificación de RUTs para segmentación</a:t>
            </a:r>
          </a:p>
          <a:p>
            <a:pPr algn="l">
              <a:defRPr sz="1600" b="0">
                <a:solidFill>
                  <a:srgbClr val="A0C4E8"/>
                </a:solidFill>
                <a:latin typeface="Calibri"/>
              </a:defRPr>
            </a:pPr>
            <a:r>
              <a:t>comercial: Contador, PYME u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3840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Alexis Taha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A0C4E8"/>
                </a:solidFill>
                <a:latin typeface="Calibri"/>
              </a:defRPr>
            </a:pPr>
            <a:r>
              <a:t>Data Engineer Semi-Senior</a:t>
            </a:r>
          </a:p>
          <a:p>
            <a:pPr algn="l">
              <a:defRPr sz="1200" b="0">
                <a:solidFill>
                  <a:srgbClr val="8BB8E8"/>
                </a:solidFill>
                <a:latin typeface="Calibri"/>
              </a:defRPr>
            </a:pPr>
            <a:r>
              <a:t>Septiembre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3716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3600" b="1">
                <a:solidFill>
                  <a:srgbClr val="1B3A5C"/>
                </a:solidFill>
                <a:latin typeface="Calibri"/>
              </a:defRPr>
            </a:pPr>
            <a:r>
              <a:t>nubox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256032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60720" y="256032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0" y="2651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🐍 Python 3.13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9718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asyncio + Playwright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356616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60720" y="356616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0" y="3657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⚡ 60%+ más rápido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9776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Concurrencia controlada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457200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60720" y="457200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0" y="46634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🛡️ 41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9834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100% lógica cubierta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60720" y="5577840"/>
            <a:ext cx="53035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60720" y="5577840"/>
            <a:ext cx="54864" cy="822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35040" y="56692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📊 Tolerancia a fallos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9893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Dead Letter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El Problema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1">
                <a:solidFill>
                  <a:srgbClr val="1B3A5C"/>
                </a:solidFill>
                <a:latin typeface="Calibri"/>
              </a:defRPr>
            </a:pPr>
            <a:r>
              <a:t>Tenemos miles de RUTs</a:t>
            </a:r>
          </a:p>
          <a:p>
            <a:pPr algn="l">
              <a:spcAft>
                <a:spcPts val="1600"/>
              </a:spcAft>
              <a:defRPr sz="2600" b="1">
                <a:solidFill>
                  <a:srgbClr val="1B3A5C"/>
                </a:solidFill>
                <a:latin typeface="Calibri"/>
              </a:defRPr>
            </a:pPr>
            <a:r>
              <a:t>en la base.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4A5568"/>
                </a:solidFill>
                <a:latin typeface="Calibri"/>
              </a:defRPr>
            </a:pPr>
            <a:r>
              <a:t>No sabemos quién es</a:t>
            </a:r>
          </a:p>
          <a:p>
            <a:pPr algn="l">
              <a:spcAft>
                <a:spcPts val="2400"/>
              </a:spcAft>
              <a:defRPr sz="2000" b="0">
                <a:solidFill>
                  <a:srgbClr val="4A5568"/>
                </a:solidFill>
                <a:latin typeface="Calibri"/>
              </a:defRPr>
            </a:pPr>
            <a:r>
              <a:t>Contador y quién es PYME.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Sin esa tipología, la segmentación comercial</a:t>
            </a:r>
          </a:p>
          <a:p>
            <a:pPr algn="l">
              <a:spcAft>
                <a:spcPts val="24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y el onboarding se hacen a mano.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E8612D"/>
                </a:solidFill>
                <a:latin typeface="Calibri"/>
              </a:defRPr>
            </a:pPr>
            <a:r>
              <a:t>⚠️  El SII no tiene API pública. La única fuente es</a:t>
            </a:r>
          </a:p>
          <a:p>
            <a:pPr algn="l">
              <a:defRPr sz="1200" b="0">
                <a:solidFill>
                  <a:srgbClr val="E8612D"/>
                </a:solidFill>
                <a:latin typeface="Calibri"/>
              </a:defRPr>
            </a:pPr>
            <a:r>
              <a:t>un portal web SPA protegido por WAF y CAPTCHA.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54864" cy="1097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B6CB0"/>
                </a:solidFill>
                <a:latin typeface="Calibri"/>
              </a:defRPr>
            </a:pPr>
            <a:r>
              <a:t>contador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Onboarding de estudios contables y producto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orientado a intermediarios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0" y="2926080"/>
            <a:ext cx="54864" cy="109728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0" y="30632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E8612D"/>
                </a:solidFill>
                <a:latin typeface="Calibri"/>
              </a:defRPr>
            </a:pPr>
            <a:r>
              <a:t>pyme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Segmentación de empresas usuarias finales y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priorización de leads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206240"/>
            <a:ext cx="50292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4206240"/>
            <a:ext cx="54864" cy="10972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43434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A202C"/>
                </a:solidFill>
                <a:latin typeface="Calibri"/>
              </a:defRPr>
            </a:pPr>
            <a:r>
              <a:t>otro / sin_clasificar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Fuera de foco o sin evidencia suficiente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para decidir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669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1">
                <a:solidFill>
                  <a:srgbClr val="2B6CB0"/>
                </a:solidFill>
                <a:latin typeface="Calibri"/>
              </a:defRPr>
            </a:pPr>
            <a:r>
              <a:t>Fuente de verdad para este ejercicio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4A5568"/>
                </a:solidFill>
                <a:latin typeface="Calibri"/>
              </a:defRPr>
            </a:pPr>
            <a:r>
              <a:t>Consulta pública de actividades económicas del SII,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cruzada con el mapa de rubros de Nubox.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Arquitectura del Pipeline ETL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Lectura 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ruts_entrada.csv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Módulo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validator.py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Scraping SII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scraper.py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7804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Clasificación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classifier.py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1945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6CB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26880" y="1828800"/>
            <a:ext cx="18288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1A202C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331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B3A5C"/>
                </a:solidFill>
                <a:latin typeface="Calibri"/>
              </a:defRPr>
            </a:pPr>
            <a:r>
              <a:t>Persistencia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651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A5568"/>
                </a:solidFill>
                <a:latin typeface="Calibri"/>
              </a:defRPr>
            </a:pPr>
            <a:r>
              <a:t>resultados.csv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91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↳  Si algún paso falla  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0" y="3657600"/>
            <a:ext cx="4572000" cy="8229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5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31920" y="37490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53E3E"/>
                </a:solidFill>
                <a:latin typeface="Calibri"/>
              </a:defRPr>
            </a:pPr>
            <a:r>
              <a:t>🚨  Cuarentena (cuarentena.csv + motivo del fallo)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114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5568"/>
                </a:solidFill>
                <a:latin typeface="Calibri"/>
              </a:defRPr>
            </a:pPr>
            <a:r>
              <a:t>El batch NUNCA se detiene. Los fallos se aíslan.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846320"/>
            <a:ext cx="5029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5840" y="49834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🐍  Stack Tecnológico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Python 3.13 · Pandas · asyncio · Playwright (headless)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playwright-stealth · tenacity · tqdm · pytest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846320"/>
            <a:ext cx="5212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49834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1">
                <a:solidFill>
                  <a:srgbClr val="1B3A5C"/>
                </a:solidFill>
                <a:latin typeface="Calibri"/>
              </a:defRPr>
            </a:pPr>
            <a:r>
              <a:t>🏗️  Principios de Diseño (SOLID)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Cada módulo tiene responsabilidad única. Se puede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cambiar el scraper sin tocar el clasificador. Escalable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a producción en la nube sin reescribir lógica.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Resiliencia y Manejo de Errores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5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2B6CB0"/>
                </a:solidFill>
                <a:latin typeface="Calibri"/>
              </a:defRPr>
            </a:pPr>
            <a:r>
              <a:t>Error Tipo 1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RUT Inválido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Módulo 11 detecta que el dígito verificador no cuadra. El RUT jamás llega a consultar el SII, ahorrando tiempo y ancho de banda.</a:t>
            </a:r>
          </a:p>
          <a:p>
            <a:pPr algn="l">
              <a:defRPr sz="1100" b="0">
                <a:solidFill>
                  <a:srgbClr val="2B6CB0"/>
                </a:solidFill>
                <a:latin typeface="Calibri"/>
              </a:defRPr>
            </a:pPr>
            <a:r>
              <a:t>🔖  Fail-Fast · Sin gasto de 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E8612D"/>
                </a:solidFill>
                <a:latin typeface="Calibri"/>
              </a:defRPr>
            </a:pPr>
            <a:r>
              <a:t>Error Tipo 2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Timeout / CAPTCHA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Si el portal del SII no responde en 40 segundos (bloqueo WAF, CAPTCHA o sobrecarga), el registro se aísla con su traza de error exacta en cuarentena.</a:t>
            </a:r>
          </a:p>
          <a:p>
            <a:pPr algn="l">
              <a:defRPr sz="1100" b="0">
                <a:solidFill>
                  <a:srgbClr val="E8612D"/>
                </a:solidFill>
                <a:latin typeface="Calibri"/>
              </a:defRPr>
            </a:pPr>
            <a:r>
              <a:t>🔖  Dead Letter Queue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4572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0" y="182880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4A5568"/>
                </a:solidFill>
                <a:latin typeface="Calibri"/>
              </a:defRPr>
            </a:pPr>
            <a:r>
              <a:t>Error Tipo 3</a:t>
            </a:r>
          </a:p>
          <a:p>
            <a:pPr algn="l">
              <a:spcAft>
                <a:spcPts val="10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Sin Match</a:t>
            </a:r>
          </a:p>
          <a:p>
            <a:pPr algn="l">
              <a:spcAft>
                <a:spcPts val="14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RUT tiene actividades en el SII, pero ninguna coincide con los 26 rubros del mapa maestro de Nubox. Se clasifica como 'otro / sin_clasificar'.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🔖  Clasificación por descarte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10698480" cy="82296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⚡ Principio clave: Un fallo individual NUNCA tumba el batch completo.</a:t>
            </a:r>
          </a:p>
          <a:p>
            <a:pPr algn="l">
              <a:defRPr sz="1200" b="0">
                <a:solidFill>
                  <a:srgbClr val="A0C4E8"/>
                </a:solidFill>
                <a:latin typeface="Calibri"/>
              </a:defRPr>
            </a:pPr>
            <a:r>
              <a:t>El pipeline continúa procesando los registros restantes. Cualquier error se registra con su motivo exacto en cuarentena.csv.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577840"/>
            <a:ext cx="10698480" cy="1005840"/>
          </a:xfrm>
          <a:prstGeom prst="round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669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000" b="0">
                <a:solidFill>
                  <a:srgbClr val="68D391"/>
                </a:solidFill>
                <a:latin typeface="Calibri"/>
              </a:defRPr>
            </a:pPr>
            <a:r>
              <a:t># Patrón Cuarentena en main.py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try: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    giros = await obtener_giros_sii(rut)  # Scraping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Calibri"/>
              </a:defRPr>
            </a:pPr>
            <a:r>
              <a:t>except Exception as e:</a:t>
            </a:r>
          </a:p>
          <a:p>
            <a:pPr algn="l">
              <a:defRPr sz="1100" b="0">
                <a:solidFill>
                  <a:srgbClr val="E2E8F0"/>
                </a:solidFill>
                <a:latin typeface="Calibri"/>
              </a:defRPr>
            </a:pPr>
            <a:r>
              <a:t>    guardar_cuarentena(rut, motivo=e)      # Aislamiento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Regla de Negocio: Multi-giro y Prioridad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La tipología sale del mapa,</a:t>
            </a:r>
          </a:p>
          <a:p>
            <a:pPr algn="l">
              <a:spcAft>
                <a:spcPts val="1600"/>
              </a:spcAft>
              <a:defRPr sz="2200" b="1">
                <a:solidFill>
                  <a:srgbClr val="E8612D"/>
                </a:solidFill>
                <a:latin typeface="Calibri"/>
              </a:defRPr>
            </a:pPr>
            <a:r>
              <a:t>no de tu intuición.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Una empresa puede tener múltiples giros en el SII</a:t>
            </a:r>
          </a:p>
          <a:p>
            <a:pPr algn="l">
              <a:spcAft>
                <a:spcPts val="200"/>
              </a:spcAft>
              <a:defRPr sz="1300" b="0">
                <a:solidFill>
                  <a:srgbClr val="4A5568"/>
                </a:solidFill>
                <a:latin typeface="Calibri"/>
              </a:defRPr>
            </a:pPr>
            <a:r>
              <a:t>(ej. asesoría contable Y venta de software).</a:t>
            </a:r>
          </a:p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¿Cómo decidimos? → Columna de Prioridad.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Extraes los giros vigentes del SII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069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Cruzas con el mapa (mapa_rubros.csv)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Si hay múltiples matches → menor prioridad gana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Contador = Prioridad 1 (siempre gana)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303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PYME = Prioridad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15000"/>
            <a:ext cx="320040" cy="32004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202C"/>
                </a:solidFill>
                <a:latin typeface="Calibri"/>
              </a:defRPr>
            </a:pPr>
            <a:r>
              <a:t>Sin coincidencia = 'otro / sin_clasificar'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217920" y="164592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0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Familia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Multi-giro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Código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2.037.289-3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B6CB0"/>
                          </a:solidFill>
                          <a:latin typeface="Calibri"/>
                        </a:defRPr>
                      </a:pPr>
                      <a:r>
                        <a:t>Contador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4.346.663-1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B6CB0"/>
                          </a:solidFill>
                          <a:latin typeface="Calibri"/>
                        </a:defRPr>
                      </a:pPr>
                      <a:r>
                        <a:t>Contador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692000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4.108.520-7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11306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5.084.436-6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472101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7.683.970-0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8612D"/>
                          </a:solidFill>
                          <a:latin typeface="Calibri"/>
                        </a:defRPr>
                      </a:pPr>
                      <a:r>
                        <a:t>PYME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620200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3.418.354-6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Otro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6217920" y="5303520"/>
            <a:ext cx="5212080" cy="9144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D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53949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1B3A5C"/>
                </a:solidFill>
                <a:latin typeface="Calibri"/>
              </a:defRPr>
            </a:pPr>
            <a:r>
              <a:t>⚠️  Trazabilidad</a:t>
            </a:r>
          </a:p>
          <a:p>
            <a:pPr algn="l">
              <a:spcAft>
                <a:spcPts val="200"/>
              </a:spcAft>
              <a:defRPr sz="1100" b="0">
                <a:solidFill>
                  <a:srgbClr val="4A5568"/>
                </a:solidFill>
                <a:latin typeface="Calibri"/>
              </a:defRPr>
            </a:pPr>
            <a:r>
              <a:t>Cada registro incluye el codigo_ganador y la regla</a:t>
            </a:r>
          </a:p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aplicada, permitiendo auditar por qué se clasificó así.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Optimizaciones: Async, Stealth y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45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⚡ Concurrencia Asíncrona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2B6CB0"/>
                </a:solidFill>
                <a:latin typeface="Calibri"/>
              </a:defRPr>
            </a:pPr>
            <a:r>
              <a:t>asyncio + Semáforo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En vez de procesar 1 RUT a la vez (54s), lanzamos 3 navegadores en paralelo controlados por un Semáforo.</a:t>
            </a:r>
            <a:br/>
            <a:br/>
            <a:r>
              <a:t>Resultado: 60%+ más rápido (~20s para 12 registros). Configurable vía MAX_CONCURRENCY.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38328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🛡️ Evasión WAF / Stealth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E8612D"/>
                </a:solidFill>
                <a:latin typeface="Calibri"/>
              </a:defRPr>
            </a:pPr>
            <a:r>
              <a:t>playwright-stealth + Jitter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El SII detecta bots por la huella digital del navegador. Stealth oculta la bandera webdriver.</a:t>
            </a:r>
            <a:br/>
            <a:br/>
            <a:r>
              <a:t>Jitter: Esperas aleatorias (0-3.5s) antes de cada petición para simular comportamiento humano.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645920"/>
            <a:ext cx="3383280" cy="4572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8745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✅ 41 Tests Unitarios</a:t>
            </a:r>
          </a:p>
          <a:p>
            <a:pPr algn="l">
              <a:spcAft>
                <a:spcPts val="1200"/>
              </a:spcAft>
              <a:defRPr sz="1200" b="1">
                <a:solidFill>
                  <a:srgbClr val="38A169"/>
                </a:solidFill>
                <a:latin typeface="Calibri"/>
              </a:defRPr>
            </a:pPr>
            <a:r>
              <a:t>pytest · TDD · 100% cobertura lógica</a:t>
            </a:r>
          </a:p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Batería de pruebas que cubre:</a:t>
            </a:r>
            <a:br/>
            <a:r>
              <a:t>• Validación Módulo 11 (K, 0, inválidos)</a:t>
            </a:r>
            <a:br/>
            <a:r>
              <a:t>• Clasificación multi-giro y empates</a:t>
            </a:r>
            <a:br/>
            <a:r>
              <a:t>• Códigos no mapeados en diccionario</a:t>
            </a:r>
            <a:br/>
            <a:r>
              <a:t>• Formato y limpieza de RUTs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109728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FC8481"/>
                </a:solidFill>
                <a:latin typeface="Calibri"/>
              </a:defRPr>
            </a:pPr>
            <a:r>
              <a:t>📊 Antes (Secuencial)</a:t>
            </a:r>
          </a:p>
          <a:p>
            <a:pPr algn="l">
              <a:defRPr sz="1300" b="0">
                <a:solidFill>
                  <a:srgbClr val="A0C4E8"/>
                </a:solidFill>
                <a:latin typeface="Calibri"/>
              </a:defRPr>
            </a:pPr>
            <a:r>
              <a:t>~54 segundos para 12 RUTs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4864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68D391"/>
                </a:solidFill>
                <a:latin typeface="Calibri"/>
              </a:defRPr>
            </a:pPr>
            <a:r>
              <a:t>🚀 Después (Async)</a:t>
            </a:r>
          </a:p>
          <a:p>
            <a:pPr algn="l">
              <a:defRPr sz="1300" b="0">
                <a:solidFill>
                  <a:srgbClr val="A0C4E8"/>
                </a:solidFill>
                <a:latin typeface="Calibri"/>
              </a:defRPr>
            </a:pPr>
            <a:r>
              <a:t>~20 segundos para 12 RUTs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5486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000" b="1">
                <a:solidFill>
                  <a:srgbClr val="68D391"/>
                </a:solidFill>
                <a:latin typeface="Calibri"/>
              </a:defRPr>
            </a:pPr>
            <a:r>
              <a:t>60%+</a:t>
            </a:r>
          </a:p>
          <a:p>
            <a:pPr algn="ctr">
              <a:defRPr sz="1300" b="0">
                <a:solidFill>
                  <a:srgbClr val="A0C4E8"/>
                </a:solidFill>
                <a:latin typeface="Calibri"/>
              </a:defRPr>
            </a:pPr>
            <a:r>
              <a:t>más rápido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LÁMINA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Ejecutaremos el pipeline completo en tiempo real. Casos a demostrar: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4864" cy="10058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" y="2377440"/>
            <a:ext cx="411480" cy="411480"/>
          </a:xfrm>
          <a:prstGeom prst="ellipse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94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Exitoso: Contador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560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que contiene un giro contable (código 692000). El pipeline lo extrae del SII, cruza con el mapa de rubros y lo clasifica correctamente como 'contador'.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46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3246120"/>
            <a:ext cx="54864" cy="100584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05840" y="3520440"/>
            <a:ext cx="411480" cy="411480"/>
          </a:xfrm>
          <a:prstGeom prst="ellipse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37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Exitoso: PYME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actividades comerciales. Se clasifica como 'pyme' y se documenta la trazabilidad del código ganador y la regla de prioridad aplicada.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89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4389120"/>
            <a:ext cx="54864" cy="1005840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05840" y="4663440"/>
            <a:ext cx="411480" cy="411480"/>
          </a:xfrm>
          <a:prstGeom prst="ellipse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480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Cuarentena: RUT Inválido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dígito verificador incorrecto. El Módulo 11 lo detecta inmediatamente y lo envía a cuarentena.csv sin gastar tiempo consultando el SII (Fail-Fast).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321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5532120"/>
            <a:ext cx="54864" cy="10058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05840" y="5806440"/>
            <a:ext cx="411480" cy="4114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Caso Multi-giro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989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Calibri"/>
              </a:defRPr>
            </a:pPr>
            <a:r>
              <a:t>Un RUT con múltiples actividades económicas. Se resuelve automáticamente usando la columna de prioridad del mapa. Se demuestra la trazabilidad completa.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943600"/>
            <a:ext cx="10698480" cy="640080"/>
          </a:xfrm>
          <a:prstGeom prst="round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8D391"/>
                </a:solidFill>
                <a:latin typeface="Calibri"/>
              </a:defRPr>
            </a:pPr>
            <a:r>
              <a:t>$env:MAX_CONCURRENCY="3"; $env:SII_HEADLESS="true"; python main.py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LAMINA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Diagrama en la Nube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AWS Medallion Architecture: Como llevariamos este proceso a produccion</a:t>
            </a:r>
          </a:p>
        </p:txBody>
      </p:sp>
      <p:pic>
        <p:nvPicPr>
          <p:cNvPr id="6" name="Picture 5" descr="diagrama_cloud_a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752" y="1691640"/>
            <a:ext cx="11231728" cy="49602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12D"/>
                </a:solidFill>
                <a:latin typeface="Calibri"/>
              </a:defRPr>
            </a:pPr>
            <a:r>
              <a:t>LAMINA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C"/>
                </a:solidFill>
                <a:latin typeface="Calibri"/>
              </a:defRPr>
            </a:pPr>
            <a:r>
              <a:t>Resumen y 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731520" cy="45720"/>
          </a:xfrm>
          <a:prstGeom prst="rect">
            <a:avLst/>
          </a:prstGeom>
          <a:solidFill>
            <a:srgbClr val="E8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Entregables solicitados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0120" y="230428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1762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Presentacion 8-10 laminas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146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Problema, flujo, modulos, regla, modelo de datos, desafios,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0120" y="317296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449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Diagrama de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83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Lectura -&gt; validacion -&gt; consulta SII -&gt; clasificacion -&gt; persistencia -&gt; cuarentena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0120" y="404164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91363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Diccionario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Grano, columnas, claves y reglas de calidad por cada archivo CSV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916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470916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0120" y="491032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782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1206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Caso Contador + PYME + Cuarentena + Multi-giro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53035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E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1520" y="5577840"/>
            <a:ext cx="54864" cy="77724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0120" y="5779008"/>
            <a:ext cx="365760" cy="3657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65099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  <a:latin typeface="Calibri"/>
              </a:defRPr>
            </a:pPr>
            <a:r>
              <a:t>Diagrama en la nube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989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Calibri"/>
              </a:defRPr>
            </a:pPr>
            <a:r>
              <a:t>Step Functions + ECS Fargate + S3 + Athena + CloudWatch (AWS)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1554480"/>
            <a:ext cx="4937760" cy="4846320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0" y="173736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Bonus </a:t>
            </a:r>
            <a:r>
              <a:rPr dirty="0" err="1"/>
              <a:t>implementados</a:t>
            </a:r>
            <a:endParaRPr dirty="0"/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rPr dirty="0" err="1"/>
              <a:t>Migracion</a:t>
            </a:r>
            <a:r>
              <a:rPr dirty="0"/>
              <a:t> a </a:t>
            </a:r>
            <a:r>
              <a:rPr dirty="0" err="1"/>
              <a:t>asyncio</a:t>
            </a:r>
            <a:endParaRPr dirty="0"/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+60% </a:t>
            </a:r>
            <a:r>
              <a:rPr dirty="0" err="1"/>
              <a:t>velocidad</a:t>
            </a:r>
            <a:r>
              <a:rPr dirty="0"/>
              <a:t> con </a:t>
            </a:r>
            <a:r>
              <a:rPr dirty="0" err="1"/>
              <a:t>Semaforo</a:t>
            </a:r>
            <a:r>
              <a:rPr dirty="0"/>
              <a:t> de </a:t>
            </a:r>
            <a:r>
              <a:rPr dirty="0" err="1"/>
              <a:t>concurrencia</a:t>
            </a:r>
            <a:endParaRPr dirty="0"/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rPr dirty="0"/>
              <a:t>Evasion WAF</a:t>
            </a:r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Stealth (</a:t>
            </a:r>
            <a:r>
              <a:rPr dirty="0" err="1"/>
              <a:t>ocultar</a:t>
            </a:r>
            <a:r>
              <a:rPr dirty="0"/>
              <a:t> </a:t>
            </a:r>
            <a:r>
              <a:rPr dirty="0" err="1"/>
              <a:t>webdriver</a:t>
            </a:r>
            <a:r>
              <a:rPr dirty="0"/>
              <a:t>) + Jitter (delays </a:t>
            </a:r>
            <a:r>
              <a:rPr dirty="0" err="1"/>
              <a:t>aleatorios</a:t>
            </a:r>
            <a:r>
              <a:rPr dirty="0"/>
              <a:t>)</a:t>
            </a:r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rPr dirty="0"/>
              <a:t>41 Tests </a:t>
            </a:r>
            <a:r>
              <a:rPr dirty="0" err="1"/>
              <a:t>Unitarios</a:t>
            </a:r>
            <a:endParaRPr dirty="0"/>
          </a:p>
          <a:p>
            <a:pPr algn="l">
              <a:spcAft>
                <a:spcPts val="16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100% </a:t>
            </a:r>
            <a:r>
              <a:rPr dirty="0" err="1"/>
              <a:t>cobertura</a:t>
            </a:r>
            <a:r>
              <a:rPr dirty="0"/>
              <a:t> de </a:t>
            </a:r>
            <a:r>
              <a:rPr dirty="0" err="1"/>
              <a:t>logica</a:t>
            </a:r>
            <a:r>
              <a:rPr dirty="0"/>
              <a:t> </a:t>
            </a:r>
            <a:r>
              <a:rPr dirty="0" err="1"/>
              <a:t>sincrona</a:t>
            </a:r>
            <a:r>
              <a:rPr dirty="0"/>
              <a:t> con </a:t>
            </a:r>
            <a:r>
              <a:rPr dirty="0" err="1"/>
              <a:t>pytest</a:t>
            </a:r>
            <a:endParaRPr dirty="0"/>
          </a:p>
          <a:p>
            <a:pPr algn="l">
              <a:spcAft>
                <a:spcPts val="400"/>
              </a:spcAft>
              <a:defRPr sz="1500" b="1">
                <a:solidFill>
                  <a:srgbClr val="68D391"/>
                </a:solidFill>
                <a:latin typeface="Calibri"/>
              </a:defRPr>
            </a:pPr>
            <a:r>
              <a:rPr dirty="0"/>
              <a:t>Backoff </a:t>
            </a:r>
            <a:r>
              <a:rPr dirty="0" err="1"/>
              <a:t>Exponencial</a:t>
            </a:r>
            <a:endParaRPr dirty="0"/>
          </a:p>
          <a:p>
            <a:pPr algn="l">
              <a:spcAft>
                <a:spcPts val="24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Retries </a:t>
            </a:r>
            <a:r>
              <a:rPr dirty="0" err="1"/>
              <a:t>automaticos</a:t>
            </a:r>
            <a:r>
              <a:rPr dirty="0"/>
              <a:t> (2s, 4s, 8s) con tenacity</a:t>
            </a:r>
          </a:p>
          <a:p>
            <a:pPr algn="l">
              <a:spcAft>
                <a:spcPts val="1200"/>
              </a:spcAft>
              <a:defRPr sz="1200" b="0">
                <a:solidFill>
                  <a:srgbClr val="4A5E78"/>
                </a:solidFill>
                <a:latin typeface="Calibri"/>
              </a:defRPr>
            </a:pPr>
            <a:r>
              <a:rPr dirty="0"/>
              <a:t>---</a:t>
            </a:r>
          </a:p>
          <a:p>
            <a:pPr algn="l">
              <a:spcAft>
                <a:spcPts val="800"/>
              </a:spcAft>
              <a:defRPr sz="1400" b="1">
                <a:solidFill>
                  <a:srgbClr val="E8612D"/>
                </a:solidFill>
                <a:latin typeface="Calibri"/>
              </a:defRPr>
            </a:pPr>
            <a:r>
              <a:rPr dirty="0" err="1"/>
              <a:t>Criterio</a:t>
            </a:r>
            <a:r>
              <a:rPr dirty="0"/>
              <a:t> </a:t>
            </a:r>
            <a:r>
              <a:rPr dirty="0" err="1"/>
              <a:t>aplicado</a:t>
            </a:r>
            <a:r>
              <a:rPr dirty="0"/>
              <a:t>: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"No hay </a:t>
            </a:r>
            <a:r>
              <a:rPr dirty="0" err="1"/>
              <a:t>una</a:t>
            </a:r>
            <a:r>
              <a:rPr dirty="0"/>
              <a:t> unica </a:t>
            </a:r>
            <a:r>
              <a:rPr dirty="0" err="1"/>
              <a:t>solucion</a:t>
            </a:r>
            <a:r>
              <a:rPr dirty="0"/>
              <a:t> </a:t>
            </a:r>
            <a:r>
              <a:rPr dirty="0" err="1"/>
              <a:t>correcta</a:t>
            </a:r>
            <a:r>
              <a:rPr dirty="0"/>
              <a:t>.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Lo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 es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piensas</a:t>
            </a:r>
            <a:r>
              <a:rPr dirty="0"/>
              <a:t>,</a:t>
            </a:r>
          </a:p>
          <a:p>
            <a:pPr algn="l">
              <a:spcAft>
                <a:spcPts val="200"/>
              </a:spcAft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priorizaste</a:t>
            </a:r>
            <a:r>
              <a:rPr dirty="0"/>
              <a:t> y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dejaste</a:t>
            </a:r>
            <a:r>
              <a:rPr dirty="0"/>
              <a:t> fuera</a:t>
            </a:r>
          </a:p>
          <a:p>
            <a:pPr algn="l">
              <a:defRPr sz="1200" b="0">
                <a:solidFill>
                  <a:srgbClr val="A0C4E8"/>
                </a:solidFill>
                <a:latin typeface="Calibri"/>
              </a:defRPr>
            </a:pPr>
            <a:r>
              <a:rPr dirty="0"/>
              <a:t>a </a:t>
            </a:r>
            <a:r>
              <a:rPr dirty="0" err="1"/>
              <a:t>proposito</a:t>
            </a:r>
            <a:r>
              <a:rPr dirty="0"/>
              <a:t>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00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Gracias! Preguntas?  |  Alexis Taha  |  Data Engineer Semi-Senior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1184</Words>
  <Application>Microsoft Office PowerPoint</Application>
  <PresentationFormat>Panorámica</PresentationFormat>
  <Paragraphs>212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Alexis Andre Taha Molina (alexis.taham)</cp:lastModifiedBy>
  <cp:revision>2</cp:revision>
  <dcterms:created xsi:type="dcterms:W3CDTF">2013-01-27T09:14:16Z</dcterms:created>
  <dcterms:modified xsi:type="dcterms:W3CDTF">2026-09-08T19:27:09Z</dcterms:modified>
  <cp:category/>
</cp:coreProperties>
</file>